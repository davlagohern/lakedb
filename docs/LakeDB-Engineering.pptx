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3" d="100"/>
          <a:sy n="163" d="100"/>
        </p:scale>
        <p:origin x="1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344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KEDB_MASTER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DavLagoHern/LakeD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avLagoHern/LakeDB/discussions" TargetMode="External"/><Relationship Id="rId5" Type="http://schemas.openxmlformats.org/officeDocument/2006/relationships/hyperlink" Target="https://github.com/DavLagoHern/LakeDB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kedb_deck_assets_v12/header_dark.png"/>
          <p:cNvPicPr>
            <a:picLocks noChangeAspect="1"/>
          </p:cNvPicPr>
          <p:nvPr/>
        </p:nvPicPr>
        <p:blipFill>
          <a:blip r:embed="rId3"/>
          <a:srcRect l="14454" r="1445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>
              <a:alpha val="88000"/>
            </a:srgbClr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1" descr="/mnt/data/lakedb_deck_assets_v12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11480"/>
            <a:ext cx="749808" cy="7498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6583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2600" dirty="0"/>
          </a:p>
        </p:txBody>
      </p:sp>
      <p:pic>
        <p:nvPicPr>
          <p:cNvPr id="6" name="Image 2" descr="/mnt/data/lakedb_deck_assets_v12/logo_watermark.png"/>
          <p:cNvPicPr>
            <a:picLocks noChangeAspect="1"/>
          </p:cNvPicPr>
          <p:nvPr/>
        </p:nvPicPr>
        <p:blipFill>
          <a:blip r:embed="rId5">
            <a:alphaModFix amt="16000"/>
          </a:blip>
          <a:stretch>
            <a:fillRect/>
          </a:stretch>
        </p:blipFill>
        <p:spPr>
          <a:xfrm>
            <a:off x="2606040" y="1965960"/>
            <a:ext cx="3246120" cy="32461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15544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workspace for SQL, data and database operations.</a:t>
            </a:r>
            <a:endParaRPr lang="en-US" sz="2850" dirty="0"/>
          </a:p>
        </p:txBody>
      </p:sp>
      <p:sp>
        <p:nvSpPr>
          <p:cNvPr id="8" name="Text 3"/>
          <p:cNvSpPr/>
          <p:nvPr/>
        </p:nvSpPr>
        <p:spPr>
          <a:xfrm>
            <a:off x="576072" y="29718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D2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MySQL · MariaDB · SQLite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576072" y="3364992"/>
            <a:ext cx="4297680" cy="0"/>
          </a:xfrm>
          <a:prstGeom prst="line">
            <a:avLst/>
          </a:prstGeom>
          <a:noFill/>
          <a:ln w="2032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5"/>
          <p:cNvSpPr/>
          <p:nvPr/>
        </p:nvSpPr>
        <p:spPr>
          <a:xfrm>
            <a:off x="576072" y="3703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ENGINEERING OVERVIEW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76072" y="40507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practical walkthrough of connection safety, SQL workflows, local tooling and review-first AI.</a:t>
            </a:r>
            <a:endParaRPr lang="en-US" sz="1340" dirty="0"/>
          </a:p>
        </p:txBody>
      </p:sp>
      <p:sp>
        <p:nvSpPr>
          <p:cNvPr id="12" name="Shape 7"/>
          <p:cNvSpPr/>
          <p:nvPr/>
        </p:nvSpPr>
        <p:spPr>
          <a:xfrm>
            <a:off x="5742432" y="868680"/>
            <a:ext cx="5806440" cy="4983480"/>
          </a:xfrm>
          <a:prstGeom prst="roundRect">
            <a:avLst>
              <a:gd name="adj" fmla="val 1101"/>
            </a:avLst>
          </a:prstGeom>
          <a:solidFill>
            <a:srgbClr val="071628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3" descr="/mnt/data/lakedb_deck_assets_v12/query_results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931688"/>
            <a:ext cx="5696712" cy="4857464"/>
          </a:xfrm>
          <a:prstGeom prst="rect">
            <a:avLst/>
          </a:prstGeom>
        </p:spPr>
      </p:pic>
      <p:sp>
        <p:nvSpPr>
          <p:cNvPr id="14" name="Text 8">
            <a:hlinkClick r:id="rId7"/>
          </p:cNvPr>
          <p:cNvSpPr/>
          <p:nvPr/>
        </p:nvSpPr>
        <p:spPr>
          <a:xfrm>
            <a:off x="576072" y="6263640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u="sng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github.com/DavLagoHern/LakeDB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Multiple connections. Separate context. Clear visual identity.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connection keeps its own tabs, schema, results and QuerIA context.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48640" y="1417320"/>
            <a:ext cx="11109960" cy="4370832"/>
          </a:xfrm>
          <a:prstGeom prst="roundRect">
            <a:avLst>
              <a:gd name="adj" fmla="val 1255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workspac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12502"/>
            <a:ext cx="11018520" cy="41804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5998464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F5A5F">
              <a:alpha val="14000"/>
            </a:srgbClr>
          </a:solidFill>
          <a:ln w="1016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960120" y="6051499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 PROD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2395728" y="5998464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0B7CFF">
              <a:alpha val="14000"/>
            </a:srgbClr>
          </a:solidFill>
          <a:ln w="10160">
            <a:solidFill>
              <a:srgbClr val="0B7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2441448" y="6051499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 DEV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3767328" y="5998464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3813048" y="6051499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 LOCAL</a:t>
            </a:r>
            <a:endParaRPr lang="en-US" sz="880" dirty="0"/>
          </a:p>
        </p:txBody>
      </p:sp>
      <p:sp>
        <p:nvSpPr>
          <p:cNvPr id="18" name="Text 14"/>
          <p:cNvSpPr/>
          <p:nvPr/>
        </p:nvSpPr>
        <p:spPr>
          <a:xfrm>
            <a:off x="5532120" y="605332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Names, colors and environment levels are configured by the user.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Switch connections without mixing editor state, tabs or results.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Connection identity is explicit.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user names the connection, chooses its color and sets the environment level.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48640" y="1417320"/>
            <a:ext cx="11109960" cy="4160520"/>
          </a:xfrm>
          <a:prstGeom prst="roundRect">
            <a:avLst>
              <a:gd name="adj" fmla="val 1319"/>
            </a:avLst>
          </a:prstGeom>
          <a:solidFill>
            <a:srgbClr val="08182E"/>
          </a:solidFill>
          <a:ln w="1270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environment_setting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14532"/>
            <a:ext cx="11018520" cy="37660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13232" y="5742432"/>
            <a:ext cx="3337560" cy="530352"/>
          </a:xfrm>
          <a:prstGeom prst="roundRect">
            <a:avLst>
              <a:gd name="adj" fmla="val 10345"/>
            </a:avLst>
          </a:prstGeom>
          <a:solidFill>
            <a:srgbClr val="0B2038"/>
          </a:solidFill>
          <a:ln w="1016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877824" y="579120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5A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User-configured environment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877824" y="5921296"/>
            <a:ext cx="3008376" cy="33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Production, Development and Local are explicit choices, not automatic detection.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4434840" y="574243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0B2038"/>
          </a:solidFill>
          <a:ln w="1016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4599432" y="5773615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9D2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Visual identity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4599432" y="5854153"/>
            <a:ext cx="2779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Colors make the active connection obvious while working across tabs.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7909560" y="5742432"/>
            <a:ext cx="3200400" cy="530352"/>
          </a:xfrm>
          <a:prstGeom prst="roundRect">
            <a:avLst>
              <a:gd name="adj" fmla="val 10345"/>
            </a:avLst>
          </a:prstGeom>
          <a:solidFill>
            <a:srgbClr val="0B2038"/>
          </a:solidFill>
          <a:ln w="1016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8074152" y="577455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Read-only option</a:t>
            </a:r>
            <a:endParaRPr lang="en-US" sz="1120" dirty="0"/>
          </a:p>
        </p:txBody>
      </p:sp>
      <p:sp>
        <p:nvSpPr>
          <p:cNvPr id="20" name="Text 16"/>
          <p:cNvSpPr/>
          <p:nvPr/>
        </p:nvSpPr>
        <p:spPr>
          <a:xfrm>
            <a:off x="8067751" y="5949462"/>
            <a:ext cx="28712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connection can be marked read-only when writes should never happen.</a:t>
            </a:r>
            <a:endParaRPr lang="en-US" sz="960" dirty="0"/>
          </a:p>
        </p:txBody>
      </p:sp>
      <p:sp>
        <p:nvSpPr>
          <p:cNvPr id="21" name="Shape 17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Connection identity and safety are deliberate settings, not hidden behavior.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Safety rules match the operation.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Confirmation policies can be different for writes, DDL, restores and server actions.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66928" y="1417320"/>
            <a:ext cx="7452360" cy="4754880"/>
          </a:xfrm>
          <a:prstGeom prst="roundRect">
            <a:avLst>
              <a:gd name="adj" fmla="val 1154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safety_matrix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94" y="1463040"/>
            <a:ext cx="6630829" cy="4663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39328" y="1435609"/>
            <a:ext cx="3200400" cy="4754880"/>
          </a:xfrm>
          <a:prstGeom prst="roundRect">
            <a:avLst>
              <a:gd name="adj" fmla="val 1714"/>
            </a:avLst>
          </a:prstGeom>
          <a:solidFill>
            <a:srgbClr val="0B2038"/>
          </a:solidFill>
          <a:ln w="11430">
            <a:solidFill>
              <a:srgbClr val="284F75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8641080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levels</a:t>
            </a:r>
            <a:endParaRPr lang="en-US" sz="1420" dirty="0"/>
          </a:p>
        </p:txBody>
      </p:sp>
      <p:sp>
        <p:nvSpPr>
          <p:cNvPr id="14" name="Shape 10"/>
          <p:cNvSpPr/>
          <p:nvPr/>
        </p:nvSpPr>
        <p:spPr>
          <a:xfrm>
            <a:off x="8641080" y="2350008"/>
            <a:ext cx="64008" cy="64008"/>
          </a:xfrm>
          <a:prstGeom prst="ellipse">
            <a:avLst/>
          </a:prstGeom>
          <a:solidFill>
            <a:srgbClr val="AAB8C9"/>
          </a:solidFill>
          <a:ln w="12700">
            <a:solidFill>
              <a:srgbClr val="AAB8C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8796528" y="22677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Level 0: no confirmation</a:t>
            </a:r>
            <a:endParaRPr lang="en-US" sz="1070" dirty="0"/>
          </a:p>
        </p:txBody>
      </p:sp>
      <p:sp>
        <p:nvSpPr>
          <p:cNvPr id="16" name="Shape 12"/>
          <p:cNvSpPr/>
          <p:nvPr/>
        </p:nvSpPr>
        <p:spPr>
          <a:xfrm>
            <a:off x="8641080" y="2935224"/>
            <a:ext cx="64008" cy="64008"/>
          </a:xfrm>
          <a:prstGeom prst="ellipse">
            <a:avLst/>
          </a:prstGeom>
          <a:solidFill>
            <a:srgbClr val="5CB9FF"/>
          </a:solidFill>
          <a:ln w="12700">
            <a:solidFill>
              <a:srgbClr val="5CB9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8796528" y="2852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Level 1: button confirmation</a:t>
            </a:r>
            <a:endParaRPr lang="en-US" sz="1070" dirty="0"/>
          </a:p>
        </p:txBody>
      </p:sp>
      <p:sp>
        <p:nvSpPr>
          <p:cNvPr id="18" name="Shape 14"/>
          <p:cNvSpPr/>
          <p:nvPr/>
        </p:nvSpPr>
        <p:spPr>
          <a:xfrm>
            <a:off x="8641080" y="3520440"/>
            <a:ext cx="64008" cy="6400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8796528" y="34381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Level 2: type-word confirmation</a:t>
            </a:r>
            <a:endParaRPr lang="en-US" sz="1070" dirty="0"/>
          </a:p>
        </p:txBody>
      </p:sp>
      <p:sp>
        <p:nvSpPr>
          <p:cNvPr id="20" name="Shape 16"/>
          <p:cNvSpPr/>
          <p:nvPr/>
        </p:nvSpPr>
        <p:spPr>
          <a:xfrm>
            <a:off x="8641080" y="4270248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8796528" y="41879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rules per environment</a:t>
            </a:r>
            <a:endParaRPr lang="en-US" sz="1070" dirty="0"/>
          </a:p>
        </p:txBody>
      </p:sp>
      <p:sp>
        <p:nvSpPr>
          <p:cNvPr id="22" name="Shape 18"/>
          <p:cNvSpPr/>
          <p:nvPr/>
        </p:nvSpPr>
        <p:spPr>
          <a:xfrm>
            <a:off x="8641080" y="4855464"/>
            <a:ext cx="64008" cy="64008"/>
          </a:xfrm>
          <a:prstGeom prst="ellipse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8796528" y="47731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Editable without changing database metadata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641080" y="5202937"/>
            <a:ext cx="2468880" cy="795527"/>
          </a:xfrm>
          <a:prstGeom prst="roundRect">
            <a:avLst>
              <a:gd name="adj" fmla="val 10714"/>
            </a:avLst>
          </a:prstGeom>
          <a:solidFill>
            <a:srgbClr val="0B2038"/>
          </a:solidFill>
          <a:ln w="10160">
            <a:solidFill>
              <a:srgbClr val="F6C8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8796528" y="521208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6C8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Visible before use</a:t>
            </a:r>
            <a:endParaRPr lang="en-US" sz="1120" dirty="0"/>
          </a:p>
        </p:txBody>
      </p:sp>
      <p:sp>
        <p:nvSpPr>
          <p:cNvPr id="26" name="Text 22"/>
          <p:cNvSpPr/>
          <p:nvPr/>
        </p:nvSpPr>
        <p:spPr>
          <a:xfrm>
            <a:off x="8796528" y="5362955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matrix explains exactly what LakeDB will ask for before a risky action runs.</a:t>
            </a:r>
            <a:endParaRPr lang="en-US" sz="960" dirty="0"/>
          </a:p>
        </p:txBody>
      </p:sp>
      <p:sp>
        <p:nvSpPr>
          <p:cNvPr id="27" name="Shape 23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confirmation matrix is visible, configurable and reviewable.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High-risk actions can demand stronger confirmation.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destructive operation does not continue until the configured token is entered.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868680" y="1481328"/>
            <a:ext cx="7818120" cy="3291840"/>
          </a:xfrm>
          <a:prstGeom prst="roundRect">
            <a:avLst>
              <a:gd name="adj" fmla="val 1667"/>
            </a:avLst>
          </a:prstGeom>
          <a:solidFill>
            <a:srgbClr val="09182B"/>
          </a:solidFill>
          <a:ln w="1270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production_confi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24" y="1536192"/>
            <a:ext cx="7599632" cy="31821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034272" y="1481328"/>
            <a:ext cx="2331720" cy="3291840"/>
          </a:xfrm>
          <a:prstGeom prst="roundRect">
            <a:avLst>
              <a:gd name="adj" fmla="val 2353"/>
            </a:avLst>
          </a:prstGeom>
          <a:solidFill>
            <a:srgbClr val="0B2038"/>
          </a:solidFill>
          <a:ln w="1143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9262872" y="17922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5A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Production safeguard</a:t>
            </a:r>
            <a:endParaRPr lang="en-US" sz="1360" dirty="0"/>
          </a:p>
        </p:txBody>
      </p:sp>
      <p:sp>
        <p:nvSpPr>
          <p:cNvPr id="14" name="Shape 10"/>
          <p:cNvSpPr/>
          <p:nvPr/>
        </p:nvSpPr>
        <p:spPr>
          <a:xfrm>
            <a:off x="9253728" y="2478024"/>
            <a:ext cx="64008" cy="6400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9409176" y="2395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table is named before deletion.</a:t>
            </a:r>
            <a:endParaRPr lang="en-US" sz="1040" dirty="0"/>
          </a:p>
        </p:txBody>
      </p:sp>
      <p:sp>
        <p:nvSpPr>
          <p:cNvPr id="16" name="Shape 12"/>
          <p:cNvSpPr/>
          <p:nvPr/>
        </p:nvSpPr>
        <p:spPr>
          <a:xfrm>
            <a:off x="9253728" y="3063240"/>
            <a:ext cx="64008" cy="6400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9409176" y="298094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required token is shown explicitly.</a:t>
            </a:r>
            <a:endParaRPr lang="en-US" sz="1040" dirty="0"/>
          </a:p>
        </p:txBody>
      </p:sp>
      <p:sp>
        <p:nvSpPr>
          <p:cNvPr id="18" name="Shape 14"/>
          <p:cNvSpPr/>
          <p:nvPr/>
        </p:nvSpPr>
        <p:spPr>
          <a:xfrm>
            <a:off x="9253728" y="3648456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9409176" y="35661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Cancel remains the safe default.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3794760" y="516636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FF5A5F">
              <a:alpha val="14000"/>
            </a:srgbClr>
          </a:solidFill>
          <a:ln w="1016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3840480" y="5219395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Type PRODUCTION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468880" y="565099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policy comes from the connection and operation configuration.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Stronger safeguards appear only when the configured policy requires them.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complete SQL workflow before AI.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Write, run and inspect real queries in one workspace.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66928" y="1389888"/>
            <a:ext cx="6537960" cy="4709160"/>
          </a:xfrm>
          <a:prstGeom prst="roundRect">
            <a:avLst>
              <a:gd name="adj" fmla="val 1165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query_results_crop.png"/>
          <p:cNvPicPr>
            <a:picLocks noChangeAspect="1"/>
          </p:cNvPicPr>
          <p:nvPr/>
        </p:nvPicPr>
        <p:blipFill>
          <a:blip r:embed="rId4"/>
          <a:srcRect l="2189"/>
          <a:stretch>
            <a:fillRect/>
          </a:stretch>
        </p:blipFill>
        <p:spPr>
          <a:xfrm>
            <a:off x="1187383" y="1435608"/>
            <a:ext cx="5297049" cy="4617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60920" y="1389888"/>
            <a:ext cx="4187952" cy="4709160"/>
          </a:xfrm>
          <a:prstGeom prst="roundRect">
            <a:avLst>
              <a:gd name="adj" fmla="val 1310"/>
            </a:avLst>
          </a:prstGeom>
          <a:solidFill>
            <a:srgbClr val="0B2038"/>
          </a:solidFill>
          <a:ln w="11430">
            <a:solidFill>
              <a:srgbClr val="284F75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7699248" y="17190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basic workflow matters first</a:t>
            </a:r>
            <a:endParaRPr lang="en-US" sz="1420" dirty="0"/>
          </a:p>
        </p:txBody>
      </p:sp>
      <p:sp>
        <p:nvSpPr>
          <p:cNvPr id="14" name="Shape 10"/>
          <p:cNvSpPr/>
          <p:nvPr/>
        </p:nvSpPr>
        <p:spPr>
          <a:xfrm>
            <a:off x="7699248" y="2414016"/>
            <a:ext cx="64008" cy="64008"/>
          </a:xfrm>
          <a:prstGeom prst="ellipse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7854696" y="23317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SQL editor and results share the same workspace.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7699248" y="3118104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7854696" y="30358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Results show real rows from the connected database.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699248" y="3822192"/>
            <a:ext cx="64008" cy="64008"/>
          </a:xfrm>
          <a:prstGeom prst="ellipse">
            <a:avLst/>
          </a:prstGeom>
          <a:solidFill>
            <a:srgbClr val="5CB9FF"/>
          </a:solidFill>
          <a:ln w="12700">
            <a:solidFill>
              <a:srgbClr val="5CB9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7854696" y="37398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Duration and row count stay visible after execution.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7699248" y="4526280"/>
            <a:ext cx="64008" cy="64008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7854696" y="444398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AI is required for everyday SQL work.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7699248" y="54132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5CB9FF">
              <a:alpha val="14000"/>
            </a:srgbClr>
          </a:solidFill>
          <a:ln w="10160">
            <a:solidFill>
              <a:srgbClr val="5CB9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7744968" y="5466283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SQL editor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8906256" y="54132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8951976" y="5466283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Query results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10241280" y="54132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10287000" y="5466283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Duration + rows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Useful even when AI is turned off.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Schema-aware autocomplete stays close to the editor.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Tables, views, indexes and columns appear where they are needed.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Tables and views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85800" y="160020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08182E"/>
          </a:solidFill>
          <a:ln w="12700">
            <a:solidFill>
              <a:srgbClr val="5CB9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/mnt/data/lakedb_deck_assets_v12/autocomplete_t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09"/>
            <a:ext cx="5193792" cy="23554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1371600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Indexes and columns in WHERE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263640" y="160020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08182E"/>
          </a:solidFill>
          <a:ln w="1270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/mnt/data/lakedb_deck_assets_v12/autocomplete_w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460126"/>
            <a:ext cx="5193792" cy="15719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05840" y="5285232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0B2038"/>
          </a:solidFill>
          <a:ln w="1016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1170432" y="542239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9D2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from metadata</a:t>
            </a:r>
            <a:endParaRPr lang="en-US" sz="1120" dirty="0"/>
          </a:p>
        </p:txBody>
      </p:sp>
      <p:sp>
        <p:nvSpPr>
          <p:cNvPr id="18" name="Text 13"/>
          <p:cNvSpPr/>
          <p:nvPr/>
        </p:nvSpPr>
        <p:spPr>
          <a:xfrm>
            <a:off x="1170432" y="5724144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 uses the schema you are connected to, not a generic SQL template.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4526280" y="5285232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0B2038"/>
          </a:solidFill>
          <a:ln w="1016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4690872" y="542239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Less typing, fewer mistakes</a:t>
            </a:r>
            <a:endParaRPr lang="en-US" sz="1120" dirty="0"/>
          </a:p>
        </p:txBody>
      </p:sp>
      <p:sp>
        <p:nvSpPr>
          <p:cNvPr id="21" name="Text 16"/>
          <p:cNvSpPr/>
          <p:nvPr/>
        </p:nvSpPr>
        <p:spPr>
          <a:xfrm>
            <a:off x="4690872" y="5724144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Alias, column and index suggestions reduce friction while writing queries.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8028432" y="5285232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0B2038"/>
          </a:solidFill>
          <a:ln w="10160">
            <a:solidFill>
              <a:srgbClr val="5CB9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8193024" y="542239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AI required</a:t>
            </a:r>
            <a:endParaRPr lang="en-US" sz="1120" dirty="0"/>
          </a:p>
        </p:txBody>
      </p:sp>
      <p:sp>
        <p:nvSpPr>
          <p:cNvPr id="24" name="Text 19"/>
          <p:cNvSpPr/>
          <p:nvPr/>
        </p:nvSpPr>
        <p:spPr>
          <a:xfrm>
            <a:off x="8193024" y="5724144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editor remains useful even with QuerIA disabled.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Fast SQL authoring starts with real database metadata.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 before optimizing.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 insights stay next to the SQL that produced them.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94360" y="1389888"/>
            <a:ext cx="8458200" cy="4663440"/>
          </a:xfrm>
          <a:prstGeom prst="roundRect">
            <a:avLst>
              <a:gd name="adj" fmla="val 1176"/>
            </a:avLst>
          </a:prstGeom>
          <a:solidFill>
            <a:srgbClr val="08182E"/>
          </a:solidFill>
          <a:ln w="1270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explain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917" y="1435608"/>
            <a:ext cx="7007087" cy="4572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281160" y="1389888"/>
            <a:ext cx="2331720" cy="4663440"/>
          </a:xfrm>
          <a:prstGeom prst="roundRect">
            <a:avLst>
              <a:gd name="adj" fmla="val 2353"/>
            </a:avLst>
          </a:prstGeom>
          <a:solidFill>
            <a:srgbClr val="0B2038"/>
          </a:solidFill>
          <a:ln w="1143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9546336" y="17007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 review</a:t>
            </a:r>
            <a:endParaRPr lang="en-US" sz="1380" dirty="0"/>
          </a:p>
        </p:txBody>
      </p:sp>
      <p:sp>
        <p:nvSpPr>
          <p:cNvPr id="14" name="Shape 10"/>
          <p:cNvSpPr/>
          <p:nvPr/>
        </p:nvSpPr>
        <p:spPr>
          <a:xfrm>
            <a:off x="9528048" y="2386584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9683496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EXPLAIN without leaving the editor.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9528048" y="3072384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9683496" y="2990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See scans, indexes and sort operations.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9528048" y="3758184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9683496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the plan tied to the current query.</a:t>
            </a:r>
            <a:endParaRPr lang="en-US" sz="1020" dirty="0"/>
          </a:p>
        </p:txBody>
      </p:sp>
      <p:sp>
        <p:nvSpPr>
          <p:cNvPr id="20" name="Shape 16"/>
          <p:cNvSpPr/>
          <p:nvPr/>
        </p:nvSpPr>
        <p:spPr>
          <a:xfrm>
            <a:off x="9528048" y="4800600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9573768" y="4853635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SQL first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10533888" y="480060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10579608" y="4853635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 visible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Useful performance context without switching to another tool.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Teach the formatter your style.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Learn a deterministic profile from explicit examples you provide.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66928" y="1371600"/>
            <a:ext cx="11064240" cy="4709160"/>
          </a:xfrm>
          <a:prstGeom prst="roundRect">
            <a:avLst>
              <a:gd name="adj" fmla="val 1165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learn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234" y="1417320"/>
            <a:ext cx="7505627" cy="4617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41248" y="6217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7CFF">
              <a:alpha val="14000"/>
            </a:srgbClr>
          </a:solidFill>
          <a:ln w="10160">
            <a:solidFill>
              <a:srgbClr val="0B7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886968" y="6270955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SELECT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1792224" y="6217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1837944" y="6270955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INSERT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2743200" y="62179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9C6BFF">
              <a:alpha val="14000"/>
            </a:srgbClr>
          </a:solidFill>
          <a:ln w="10160">
            <a:solidFill>
              <a:srgbClr val="9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2788920" y="6270955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UPDATE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3749040" y="6217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5A5F">
              <a:alpha val="14000"/>
            </a:srgbClr>
          </a:solidFill>
          <a:ln w="1016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3794760" y="6270955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DELETE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5897880" y="625449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· deterministic · no external request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Formatting does not consume AI tokens or send SQL to QuerIA.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Apply the saved style to real SQL.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Custom: My Style whenever you format the editor.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566928" y="133502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5A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Before: one-line SQL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566928" y="1554479"/>
            <a:ext cx="11064240" cy="685999"/>
          </a:xfrm>
          <a:prstGeom prst="roundRect">
            <a:avLst>
              <a:gd name="adj" fmla="val 4615"/>
            </a:avLst>
          </a:prstGeom>
          <a:solidFill>
            <a:srgbClr val="08182E"/>
          </a:solidFill>
          <a:ln w="1270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/mnt/data/lakedb_deck_assets_v12/messy_query_focus.png"/>
          <p:cNvPicPr>
            <a:picLocks noChangeAspect="1"/>
          </p:cNvPicPr>
          <p:nvPr/>
        </p:nvPicPr>
        <p:blipFill>
          <a:blip r:embed="rId4"/>
          <a:srcRect l="3842" t="8117" b="56742"/>
          <a:stretch>
            <a:fillRect/>
          </a:stretch>
        </p:blipFill>
        <p:spPr>
          <a:xfrm>
            <a:off x="787204" y="1570780"/>
            <a:ext cx="10568823" cy="6444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34725" y="2307923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Formatter profile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83964" y="2491740"/>
            <a:ext cx="3474720" cy="987552"/>
          </a:xfrm>
          <a:prstGeom prst="roundRect">
            <a:avLst>
              <a:gd name="adj" fmla="val 5556"/>
            </a:avLst>
          </a:prstGeom>
          <a:solidFill>
            <a:srgbClr val="08182E"/>
          </a:solidFill>
          <a:ln w="12700">
            <a:solidFill>
              <a:srgbClr val="5CB9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/mnt/data/lakedb_deck_assets_v12/style_sel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394" y="2514797"/>
            <a:ext cx="1559263" cy="9326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815584" y="4069080"/>
            <a:ext cx="411480" cy="310896"/>
          </a:xfrm>
          <a:prstGeom prst="chevron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649224" y="3470148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After: Custom My Style</a:t>
            </a:r>
            <a:endParaRPr lang="en-US" sz="960" dirty="0"/>
          </a:p>
        </p:txBody>
      </p:sp>
      <p:sp>
        <p:nvSpPr>
          <p:cNvPr id="18" name="Shape 13"/>
          <p:cNvSpPr/>
          <p:nvPr/>
        </p:nvSpPr>
        <p:spPr>
          <a:xfrm>
            <a:off x="566928" y="3687220"/>
            <a:ext cx="11064240" cy="2649571"/>
          </a:xfrm>
          <a:prstGeom prst="roundRect">
            <a:avLst>
              <a:gd name="adj" fmla="val 3797"/>
            </a:avLst>
          </a:prstGeom>
          <a:solidFill>
            <a:srgbClr val="08182E"/>
          </a:solidFill>
          <a:ln w="1270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4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5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learned profile remains reusable and local.</a:t>
            </a:r>
            <a:endParaRPr lang="en-US" sz="87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9D25BF-933C-8881-0FA7-132CC1C6F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0634" y="3726378"/>
            <a:ext cx="8856785" cy="25281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QuerIA proposes. You remain in control.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Generate SQL from natural language, review it, and run it only when you decide.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48640" y="1389888"/>
            <a:ext cx="11109960" cy="4480561"/>
          </a:xfrm>
          <a:prstGeom prst="roundRect">
            <a:avLst>
              <a:gd name="adj" fmla="val 1165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queria_focus.png"/>
          <p:cNvPicPr>
            <a:picLocks noChangeAspect="1"/>
          </p:cNvPicPr>
          <p:nvPr/>
        </p:nvPicPr>
        <p:blipFill>
          <a:blip r:embed="rId4"/>
          <a:srcRect l="1841"/>
          <a:stretch>
            <a:fillRect/>
          </a:stretch>
        </p:blipFill>
        <p:spPr>
          <a:xfrm>
            <a:off x="695764" y="1414430"/>
            <a:ext cx="10815711" cy="445601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252728" y="595274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B7CFF">
              <a:alpha val="14000"/>
            </a:srgbClr>
          </a:solidFill>
          <a:ln w="10160">
            <a:solidFill>
              <a:srgbClr val="0B7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1298448" y="601675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Ask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2286000" y="595326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2331720" y="6022943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Generate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3566160" y="596034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9C6BFF">
              <a:alpha val="14000"/>
            </a:srgbClr>
          </a:solidFill>
          <a:ln w="10160">
            <a:solidFill>
              <a:srgbClr val="9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3611880" y="602435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SQL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4983480" y="59532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5029200" y="6018393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when ready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8412480" y="629107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Nothing runs automatically.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suggestions remain visible and reviewable before execution.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the database error. Add help on top.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Preserve the engine error, then optionally review a corrected SQL proposal.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566928" y="133502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5A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Original error and failed statement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566928" y="1554480"/>
            <a:ext cx="11064240" cy="1261872"/>
          </a:xfrm>
          <a:prstGeom prst="roundRect">
            <a:avLst>
              <a:gd name="adj" fmla="val 4348"/>
            </a:avLst>
          </a:prstGeom>
          <a:solidFill>
            <a:srgbClr val="08182E"/>
          </a:solidFill>
          <a:ln w="1270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/mnt/data/lakedb_deck_assets_v12/error_panel_crop.png"/>
          <p:cNvPicPr>
            <a:picLocks noChangeAspect="1"/>
          </p:cNvPicPr>
          <p:nvPr/>
        </p:nvPicPr>
        <p:blipFill>
          <a:blip r:embed="rId4"/>
          <a:srcRect l="3355" t="33151" r="-1914" b="14293"/>
          <a:stretch>
            <a:fillRect/>
          </a:stretch>
        </p:blipFill>
        <p:spPr>
          <a:xfrm>
            <a:off x="762000" y="1591056"/>
            <a:ext cx="10832592" cy="1188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3035808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9D2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AI SQL correction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566928" y="3255264"/>
            <a:ext cx="11064240" cy="2423160"/>
          </a:xfrm>
          <a:prstGeom prst="roundRect">
            <a:avLst>
              <a:gd name="adj" fmla="val 2264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/mnt/data/lakedb_deck_assets_v12/ai_fix_crop.png"/>
          <p:cNvPicPr>
            <a:picLocks noChangeAspect="1"/>
          </p:cNvPicPr>
          <p:nvPr/>
        </p:nvPicPr>
        <p:blipFill>
          <a:blip r:embed="rId5"/>
          <a:srcRect l="388" t="11359" r="-388" b="-2584"/>
          <a:stretch>
            <a:fillRect/>
          </a:stretch>
        </p:blipFill>
        <p:spPr>
          <a:xfrm>
            <a:off x="603504" y="3291840"/>
            <a:ext cx="10991088" cy="23500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77824" y="601675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5A5F">
              <a:alpha val="14000"/>
            </a:srgbClr>
          </a:solidFill>
          <a:ln w="1016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923544" y="6069787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Original error visible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2724912" y="60167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2770632" y="6069787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 to statement</a:t>
            </a:r>
            <a:endParaRPr lang="en-US" sz="820" dirty="0"/>
          </a:p>
        </p:txBody>
      </p:sp>
      <p:sp>
        <p:nvSpPr>
          <p:cNvPr id="20" name="Shape 15"/>
          <p:cNvSpPr/>
          <p:nvPr/>
        </p:nvSpPr>
        <p:spPr>
          <a:xfrm>
            <a:off x="4251960" y="601675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9C6BFF">
              <a:alpha val="14000"/>
            </a:srgbClr>
          </a:solidFill>
          <a:ln w="10160">
            <a:solidFill>
              <a:srgbClr val="9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4297680" y="6069787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Copy reviewed SQL</a:t>
            </a:r>
            <a:endParaRPr lang="en-US" sz="820" dirty="0"/>
          </a:p>
        </p:txBody>
      </p:sp>
      <p:sp>
        <p:nvSpPr>
          <p:cNvPr id="22" name="Shape 17"/>
          <p:cNvSpPr/>
          <p:nvPr/>
        </p:nvSpPr>
        <p:spPr>
          <a:xfrm>
            <a:off x="6016752" y="6016752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6062472" y="6069787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auto-execution</a:t>
            </a:r>
            <a:endParaRPr lang="en-US" sz="820" dirty="0"/>
          </a:p>
        </p:txBody>
      </p:sp>
      <p:sp>
        <p:nvSpPr>
          <p:cNvPr id="24" name="Shape 19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Help without hiding what actually happened.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Edit rows without losing control.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Buffered changes remain visible until you explicitly apply or discard them.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48640" y="1389888"/>
            <a:ext cx="11109960" cy="2743200"/>
          </a:xfrm>
          <a:prstGeom prst="roundRect">
            <a:avLst>
              <a:gd name="adj" fmla="val 2000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/mnt/data/lakedb_deck_assets_v12/pending_chan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19" y="1435608"/>
            <a:ext cx="10949203" cy="2651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13232" y="448056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0B2038"/>
          </a:solidFill>
          <a:ln w="10160">
            <a:solidFill>
              <a:srgbClr val="F6C8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877824" y="46177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6C8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pending change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877824" y="4919472"/>
            <a:ext cx="2916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grid marks unsaved edits before they reach the database.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4443984" y="448056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0B2038"/>
          </a:solidFill>
          <a:ln w="1016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4608576" y="46177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Apply explicitly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4608576" y="4919472"/>
            <a:ext cx="2916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Commit buffered changes only when the edited row is ready.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8165592" y="448056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0B2038"/>
          </a:solidFill>
          <a:ln w="1016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8330184" y="46177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5A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Discard safely</a:t>
            </a:r>
            <a:endParaRPr lang="en-US" sz="1120" dirty="0"/>
          </a:p>
        </p:txBody>
      </p:sp>
      <p:sp>
        <p:nvSpPr>
          <p:cNvPr id="20" name="Text 16"/>
          <p:cNvSpPr/>
          <p:nvPr/>
        </p:nvSpPr>
        <p:spPr>
          <a:xfrm>
            <a:off x="8330184" y="4919472"/>
            <a:ext cx="2916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Return to the last persisted state without manual rollback SQL.</a:t>
            </a:r>
            <a:endParaRPr lang="en-US" sz="960" dirty="0"/>
          </a:p>
        </p:txBody>
      </p:sp>
      <p:sp>
        <p:nvSpPr>
          <p:cNvPr id="21" name="Shape 17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data grid stays focused on reviewable, reversible work.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Format structured values before saving.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dedicated editor makes JSON readable without leaving the table workflow.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347472" y="1865377"/>
            <a:ext cx="5320636" cy="3703320"/>
          </a:xfrm>
          <a:prstGeom prst="roundRect">
            <a:avLst>
              <a:gd name="adj" fmla="val 1172"/>
            </a:avLst>
          </a:prstGeom>
          <a:solidFill>
            <a:srgbClr val="08182E"/>
          </a:solidFill>
          <a:ln w="1270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917682" y="5989320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5CB9FF">
              <a:alpha val="14000"/>
            </a:srgbClr>
          </a:solidFill>
          <a:ln w="10160">
            <a:solidFill>
              <a:srgbClr val="5CB9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963402" y="604235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Format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1960098" y="598932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2005818" y="6042355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2929362" y="59893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2975082" y="6042355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 JSON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Structured values remain visible and reviewable before save.</a:t>
            </a:r>
            <a:endParaRPr lang="en-US" sz="87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716BDB8-A91A-2210-D648-EBD1A1295941}"/>
              </a:ext>
            </a:extLst>
          </p:cNvPr>
          <p:cNvSpPr/>
          <p:nvPr/>
        </p:nvSpPr>
        <p:spPr>
          <a:xfrm>
            <a:off x="5887564" y="1865377"/>
            <a:ext cx="5337282" cy="3703320"/>
          </a:xfrm>
          <a:prstGeom prst="roundRect">
            <a:avLst>
              <a:gd name="adj" fmla="val 1172"/>
            </a:avLst>
          </a:prstGeom>
          <a:solidFill>
            <a:srgbClr val="08182E"/>
          </a:solidFill>
          <a:ln w="1270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476B74-7E44-2430-DDFF-BCB431D186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8" t="1215" r="561" b="1704"/>
          <a:stretch>
            <a:fillRect/>
          </a:stretch>
        </p:blipFill>
        <p:spPr>
          <a:xfrm>
            <a:off x="5995299" y="1945796"/>
            <a:ext cx="5121812" cy="344658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CC7C2FA-0ECF-076C-9C73-D4EEFCA1BC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645" t="-1726" r="2181" b="4154"/>
          <a:stretch>
            <a:fillRect/>
          </a:stretch>
        </p:blipFill>
        <p:spPr>
          <a:xfrm>
            <a:off x="347472" y="1892808"/>
            <a:ext cx="5244436" cy="35525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45720" y="-4402015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Validation feedback stays precise.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Invalid JSON is blocked with the exact position of the problem.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58368" y="1389888"/>
            <a:ext cx="10355463" cy="4681728"/>
          </a:xfrm>
          <a:prstGeom prst="roundRect">
            <a:avLst>
              <a:gd name="adj" fmla="val 1172"/>
            </a:avLst>
          </a:prstGeom>
          <a:solidFill>
            <a:srgbClr val="08182E"/>
          </a:solidFill>
          <a:ln w="1270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941832" y="1843337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F5A5F">
              <a:alpha val="14000"/>
            </a:srgbClr>
          </a:solidFill>
          <a:ln w="1016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987552" y="18963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Invalid JSON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941832" y="2356339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F6C85F">
              <a:alpha val="14000"/>
            </a:srgbClr>
          </a:solidFill>
          <a:ln w="1016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987552" y="240937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Exact line + column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941832" y="2890441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987552" y="29434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Fix before save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Clear feedback prevents malformed structured values from being stored.</a:t>
            </a:r>
            <a:endParaRPr lang="en-US" sz="87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62C34AB-E555-8C77-E051-2C6C4D7F5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323" y="1546810"/>
            <a:ext cx="6460973" cy="43693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16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the object explorer focused.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Hide noisy tables locally and restore them without changing database metadata.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658368" y="1335024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9D2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Hide from the table context menu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58368" y="1572768"/>
            <a:ext cx="4800600" cy="4343400"/>
          </a:xfrm>
          <a:prstGeom prst="roundRect">
            <a:avLst>
              <a:gd name="adj" fmla="val 1263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/mnt/data/lakedb_deck_assets_v12/hide_menu_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256" y="1609344"/>
            <a:ext cx="2432825" cy="42702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70448" y="1335024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27D39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Restore from Hidden tables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5870448" y="1572768"/>
            <a:ext cx="5650992" cy="2103120"/>
          </a:xfrm>
          <a:prstGeom prst="roundRect">
            <a:avLst>
              <a:gd name="adj" fmla="val 2609"/>
            </a:avLst>
          </a:prstGeom>
          <a:solidFill>
            <a:srgbClr val="08182E"/>
          </a:solidFill>
          <a:ln w="12700">
            <a:solidFill>
              <a:srgbClr val="27D39B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/mnt/data/lakedb_deck_assets_v12/hidden_tables_fo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1675716"/>
            <a:ext cx="5577840" cy="189722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870448" y="3977640"/>
            <a:ext cx="5650992" cy="1764792"/>
          </a:xfrm>
          <a:prstGeom prst="roundRect">
            <a:avLst>
              <a:gd name="adj" fmla="val 3109"/>
            </a:avLst>
          </a:prstGeom>
          <a:solidFill>
            <a:srgbClr val="0B2038"/>
          </a:solidFill>
          <a:ln w="11430">
            <a:solidFill>
              <a:srgbClr val="284F75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6172200" y="42611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explorer preferences</a:t>
            </a:r>
            <a:endParaRPr lang="en-US" sz="1360" dirty="0"/>
          </a:p>
        </p:txBody>
      </p:sp>
      <p:sp>
        <p:nvSpPr>
          <p:cNvPr id="18" name="Shape 13"/>
          <p:cNvSpPr/>
          <p:nvPr/>
        </p:nvSpPr>
        <p:spPr>
          <a:xfrm>
            <a:off x="6172200" y="4837176"/>
            <a:ext cx="64008" cy="64008"/>
          </a:xfrm>
          <a:prstGeom prst="ellipse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6327648" y="47548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Hide auxiliary or noisy tables from the tree.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172200" y="5440680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6327648" y="535838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Restore them later without changing the database.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199632" y="5943600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19D2FF">
              <a:alpha val="14000"/>
            </a:srgbClr>
          </a:solidFill>
          <a:ln w="1016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6245352" y="5996635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Hide locally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7406640" y="594360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7D39B">
              <a:alpha val="14000"/>
            </a:srgbClr>
          </a:solidFill>
          <a:ln w="1016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7452360" y="5996635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Restore quickly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2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explorer can stay quiet while LakeDB still keeps the objects accessible.</a:t>
            </a:r>
            <a:endParaRPr lang="en-US" sz="8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/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lakedb_deck_assets_v1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4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192024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0" y="1920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502920"/>
            <a:ext cx="11494008" cy="0"/>
          </a:xfrm>
          <a:prstGeom prst="line">
            <a:avLst/>
          </a:prstGeom>
          <a:noFill/>
          <a:ln w="9525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67665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Inspect active database sessions when needed.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75488" y="1060704"/>
            <a:ext cx="10927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 activity exposes running processes and operational controls on supported engines.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48640" y="1389888"/>
            <a:ext cx="11109960" cy="3246120"/>
          </a:xfrm>
          <a:prstGeom prst="roundRect">
            <a:avLst>
              <a:gd name="adj" fmla="val 1690"/>
            </a:avLst>
          </a:prstGeom>
          <a:solidFill>
            <a:srgbClr val="08182E"/>
          </a:solidFill>
          <a:ln w="12700">
            <a:solidFill>
              <a:srgbClr val="5CB9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804672" y="489204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08182E"/>
          </a:solidFill>
          <a:ln w="12700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/mnt/data/lakedb_deck_assets_v12/db_menu_sanitized.png"/>
          <p:cNvPicPr>
            <a:picLocks noChangeAspect="1"/>
          </p:cNvPicPr>
          <p:nvPr/>
        </p:nvPicPr>
        <p:blipFill>
          <a:blip r:embed="rId4"/>
          <a:srcRect t="17574" b="17574"/>
          <a:stretch/>
        </p:blipFill>
        <p:spPr>
          <a:xfrm>
            <a:off x="832104" y="4919472"/>
            <a:ext cx="2734056" cy="117957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977640" y="489204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0B2038"/>
          </a:solidFill>
          <a:ln w="10160">
            <a:solidFill>
              <a:srgbClr val="5CB9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4142232" y="50292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Processes</a:t>
            </a:r>
            <a:endParaRPr lang="en-US" sz="1120" dirty="0"/>
          </a:p>
        </p:txBody>
      </p:sp>
      <p:sp>
        <p:nvSpPr>
          <p:cNvPr id="16" name="Text 11"/>
          <p:cNvSpPr/>
          <p:nvPr/>
        </p:nvSpPr>
        <p:spPr>
          <a:xfrm>
            <a:off x="4142232" y="5330952"/>
            <a:ext cx="2002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Inspect active sessions, duration and the SQL currently running.</a:t>
            </a:r>
            <a:endParaRPr lang="en-US" sz="960" dirty="0"/>
          </a:p>
        </p:txBody>
      </p:sp>
      <p:sp>
        <p:nvSpPr>
          <p:cNvPr id="17" name="Shape 12"/>
          <p:cNvSpPr/>
          <p:nvPr/>
        </p:nvSpPr>
        <p:spPr>
          <a:xfrm>
            <a:off x="6510528" y="489204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0B2038"/>
          </a:solidFill>
          <a:ln w="10160">
            <a:solidFill>
              <a:srgbClr val="FF5A5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6675120" y="50292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5A5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Kill / cancel</a:t>
            </a:r>
            <a:endParaRPr lang="en-US" sz="1120" dirty="0"/>
          </a:p>
        </p:txBody>
      </p:sp>
      <p:sp>
        <p:nvSpPr>
          <p:cNvPr id="19" name="Text 14"/>
          <p:cNvSpPr/>
          <p:nvPr/>
        </p:nvSpPr>
        <p:spPr>
          <a:xfrm>
            <a:off x="6675120" y="5330952"/>
            <a:ext cx="2002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Stop a selected server session when the workflow requires it.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9043416" y="489204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0B2038"/>
          </a:solidFill>
          <a:ln w="10160">
            <a:solidFill>
              <a:srgbClr val="9C6B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9208008" y="50292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9C6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Replication</a:t>
            </a:r>
            <a:endParaRPr lang="en-US" sz="1120" dirty="0"/>
          </a:p>
        </p:txBody>
      </p:sp>
      <p:sp>
        <p:nvSpPr>
          <p:cNvPr id="22" name="Text 17"/>
          <p:cNvSpPr/>
          <p:nvPr/>
        </p:nvSpPr>
        <p:spPr>
          <a:xfrm>
            <a:off x="9208008" y="5330952"/>
            <a:ext cx="2002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 replication status from the same operational view.</a:t>
            </a:r>
            <a:endParaRPr lang="en-US" sz="960" dirty="0"/>
          </a:p>
        </p:txBody>
      </p:sp>
      <p:sp>
        <p:nvSpPr>
          <p:cNvPr id="23" name="Shape 18"/>
          <p:cNvSpPr/>
          <p:nvPr/>
        </p:nvSpPr>
        <p:spPr>
          <a:xfrm>
            <a:off x="411480" y="6437376"/>
            <a:ext cx="11365992" cy="0"/>
          </a:xfrm>
          <a:prstGeom prst="line">
            <a:avLst/>
          </a:prstGeom>
          <a:noFill/>
          <a:ln w="8890">
            <a:solidFill>
              <a:srgbClr val="284F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438912" y="651967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Operational tools appear where the connected database engine supports them.</a:t>
            </a:r>
            <a:endParaRPr lang="en-US" sz="87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AB3340C-89DF-7A9B-8BFC-83093190FA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6281"/>
          <a:stretch>
            <a:fillRect/>
          </a:stretch>
        </p:blipFill>
        <p:spPr>
          <a:xfrm>
            <a:off x="649224" y="1465583"/>
            <a:ext cx="10921453" cy="31155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kedb_deck_assets_v12/header_dark.png"/>
          <p:cNvPicPr>
            <a:picLocks noChangeAspect="1"/>
          </p:cNvPicPr>
          <p:nvPr/>
        </p:nvPicPr>
        <p:blipFill>
          <a:blip r:embed="rId3"/>
          <a:srcRect l="14454" r="1445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B">
              <a:alpha val="88000"/>
            </a:srgbClr>
          </a:solidFill>
          <a:ln w="12700">
            <a:solidFill>
              <a:srgbClr val="0613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1" descr="/mnt/data/lakedb_deck_assets_v12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6576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475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client first. Enterprise is optional.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21792" y="1572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AB8C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 database work stays local and free. Enterprise can add isolated services and closer engineering collaboration.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713232" y="2148840"/>
            <a:ext cx="5303520" cy="2788920"/>
          </a:xfrm>
          <a:prstGeom prst="roundRect">
            <a:avLst>
              <a:gd name="adj" fmla="val 1967"/>
            </a:avLst>
          </a:prstGeom>
          <a:solidFill>
            <a:srgbClr val="07172C"/>
          </a:solidFill>
          <a:ln w="13335">
            <a:solidFill>
              <a:srgbClr val="19D2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987552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19D2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LakeDB desktop client</a:t>
            </a:r>
            <a:endParaRPr lang="en-US" sz="1530" dirty="0"/>
          </a:p>
        </p:txBody>
      </p:sp>
      <p:sp>
        <p:nvSpPr>
          <p:cNvPr id="10" name="Shape 6"/>
          <p:cNvSpPr/>
          <p:nvPr/>
        </p:nvSpPr>
        <p:spPr>
          <a:xfrm>
            <a:off x="987552" y="2990088"/>
            <a:ext cx="64008" cy="64008"/>
          </a:xfrm>
          <a:prstGeom prst="ellipse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1143000" y="290779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Connections, workspaces and SQL editor</a:t>
            </a:r>
            <a:endParaRPr lang="en-US" sz="1130" dirty="0"/>
          </a:p>
        </p:txBody>
      </p:sp>
      <p:sp>
        <p:nvSpPr>
          <p:cNvPr id="12" name="Shape 8"/>
          <p:cNvSpPr/>
          <p:nvPr/>
        </p:nvSpPr>
        <p:spPr>
          <a:xfrm>
            <a:off x="987552" y="3410712"/>
            <a:ext cx="64008" cy="64008"/>
          </a:xfrm>
          <a:prstGeom prst="ellipse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1143000" y="332841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Autocomplete, results and data editing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987552" y="3831336"/>
            <a:ext cx="64008" cy="64008"/>
          </a:xfrm>
          <a:prstGeom prst="ellipse">
            <a:avLst/>
          </a:prstGeom>
          <a:solidFill>
            <a:srgbClr val="19D2FF"/>
          </a:solidFill>
          <a:ln w="12700">
            <a:solidFill>
              <a:srgbClr val="19D2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1143000" y="37490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Backup, restore, formatting and safety tools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987552" y="4251960"/>
            <a:ext cx="64008" cy="64008"/>
          </a:xfrm>
          <a:prstGeom prst="ellipse">
            <a:avLst/>
          </a:prstGeom>
          <a:solidFill>
            <a:srgbClr val="27D39B"/>
          </a:solidFill>
          <a:ln w="12700">
            <a:solidFill>
              <a:srgbClr val="27D3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1143000" y="416966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Free to use; QuerIA includes a free allowance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6172200" y="2148840"/>
            <a:ext cx="5303520" cy="2788920"/>
          </a:xfrm>
          <a:prstGeom prst="roundRect">
            <a:avLst>
              <a:gd name="adj" fmla="val 1967"/>
            </a:avLst>
          </a:prstGeom>
          <a:solidFill>
            <a:srgbClr val="07172C"/>
          </a:solidFill>
          <a:ln w="13335">
            <a:solidFill>
              <a:srgbClr val="0B7CFF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644652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Enterprise setup</a:t>
            </a:r>
            <a:endParaRPr lang="en-US" sz="1530" dirty="0"/>
          </a:p>
        </p:txBody>
      </p:sp>
      <p:sp>
        <p:nvSpPr>
          <p:cNvPr id="20" name="Shape 16"/>
          <p:cNvSpPr/>
          <p:nvPr/>
        </p:nvSpPr>
        <p:spPr>
          <a:xfrm>
            <a:off x="6446520" y="2990088"/>
            <a:ext cx="64008" cy="64008"/>
          </a:xfrm>
          <a:prstGeom prst="ellipse">
            <a:avLst/>
          </a:prstGeom>
          <a:solidFill>
            <a:srgbClr val="0B7CFF"/>
          </a:solidFill>
          <a:ln w="12700">
            <a:solidFill>
              <a:srgbClr val="0B7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6601968" y="290779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Dedicated QuerIA service</a:t>
            </a:r>
            <a:endParaRPr lang="en-US" sz="1130" dirty="0"/>
          </a:p>
        </p:txBody>
      </p:sp>
      <p:sp>
        <p:nvSpPr>
          <p:cNvPr id="22" name="Shape 18"/>
          <p:cNvSpPr/>
          <p:nvPr/>
        </p:nvSpPr>
        <p:spPr>
          <a:xfrm>
            <a:off x="6446520" y="3410712"/>
            <a:ext cx="64008" cy="64008"/>
          </a:xfrm>
          <a:prstGeom prst="ellipse">
            <a:avLst/>
          </a:prstGeom>
          <a:solidFill>
            <a:srgbClr val="0B7CFF"/>
          </a:solidFill>
          <a:ln w="12700">
            <a:solidFill>
              <a:srgbClr val="0B7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6601968" y="332841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Organization controls and isolated configuration</a:t>
            </a:r>
            <a:endParaRPr lang="en-US" sz="1130" dirty="0"/>
          </a:p>
        </p:txBody>
      </p:sp>
      <p:sp>
        <p:nvSpPr>
          <p:cNvPr id="24" name="Shape 20"/>
          <p:cNvSpPr/>
          <p:nvPr/>
        </p:nvSpPr>
        <p:spPr>
          <a:xfrm>
            <a:off x="6446520" y="3831336"/>
            <a:ext cx="64008" cy="64008"/>
          </a:xfrm>
          <a:prstGeom prst="ellipse">
            <a:avLst/>
          </a:prstGeom>
          <a:solidFill>
            <a:srgbClr val="0B7CFF"/>
          </a:solidFill>
          <a:ln w="12700">
            <a:solidFill>
              <a:srgbClr val="0B7C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6601968" y="37490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Company-owned provider settings and limits</a:t>
            </a:r>
            <a:endParaRPr lang="en-US" sz="1130" dirty="0"/>
          </a:p>
        </p:txBody>
      </p:sp>
      <p:sp>
        <p:nvSpPr>
          <p:cNvPr id="26" name="Shape 22"/>
          <p:cNvSpPr/>
          <p:nvPr/>
        </p:nvSpPr>
        <p:spPr>
          <a:xfrm>
            <a:off x="6446520" y="4251960"/>
            <a:ext cx="64008" cy="64008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6601968" y="416966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Closer engineering collaboration when useful</a:t>
            </a:r>
            <a:endParaRPr lang="en-US" sz="1130" dirty="0"/>
          </a:p>
        </p:txBody>
      </p:sp>
      <p:sp>
        <p:nvSpPr>
          <p:cNvPr id="28" name="Shape 24"/>
          <p:cNvSpPr/>
          <p:nvPr/>
        </p:nvSpPr>
        <p:spPr>
          <a:xfrm>
            <a:off x="1417320" y="5349240"/>
            <a:ext cx="9372600" cy="530352"/>
          </a:xfrm>
          <a:prstGeom prst="roundRect">
            <a:avLst>
              <a:gd name="adj" fmla="val 10345"/>
            </a:avLst>
          </a:prstGeom>
          <a:solidFill>
            <a:srgbClr val="07172C"/>
          </a:solidFill>
          <a:ln w="10795">
            <a:solidFill>
              <a:srgbClr val="284F75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1664208" y="55046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A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Try it with a real workflow and tell me what gets in your way.</a:t>
            </a:r>
            <a:endParaRPr lang="en-US" sz="1250" dirty="0"/>
          </a:p>
        </p:txBody>
      </p:sp>
      <p:sp>
        <p:nvSpPr>
          <p:cNvPr id="30" name="Text 26">
            <a:hlinkClick r:id="rId5"/>
          </p:cNvPr>
          <p:cNvSpPr/>
          <p:nvPr/>
        </p:nvSpPr>
        <p:spPr>
          <a:xfrm>
            <a:off x="658368" y="63276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github.com/DavLagoHern/LakeDB</a:t>
            </a:r>
            <a:endParaRPr lang="en-US" sz="950" dirty="0"/>
          </a:p>
        </p:txBody>
      </p:sp>
      <p:sp>
        <p:nvSpPr>
          <p:cNvPr id="31" name="Text 27">
            <a:hlinkClick r:id="rId6"/>
          </p:cNvPr>
          <p:cNvSpPr/>
          <p:nvPr/>
        </p:nvSpPr>
        <p:spPr>
          <a:xfrm>
            <a:off x="7315200" y="63276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u="sng" dirty="0">
                <a:solidFill>
                  <a:srgbClr val="5CB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github.com/DavLagoHern/LakeDB/discussions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3AFC630CAB4144AD0DBB2A43B58AA8" ma:contentTypeVersion="16" ma:contentTypeDescription="Crear nuevo documento." ma:contentTypeScope="" ma:versionID="806411b225618f09abeded2868d0e6d1">
  <xsd:schema xmlns:xsd="http://www.w3.org/2001/XMLSchema" xmlns:xs="http://www.w3.org/2001/XMLSchema" xmlns:p="http://schemas.microsoft.com/office/2006/metadata/properties" xmlns:ns3="e3af4649-167c-47fd-9b15-a9f16082a9df" xmlns:ns4="641b40e5-f6f8-47ee-836c-2a50c068a8e8" targetNamespace="http://schemas.microsoft.com/office/2006/metadata/properties" ma:root="true" ma:fieldsID="c9ce8dfb7dc841a1a34c14835ee82586" ns3:_="" ns4:_="">
    <xsd:import namespace="e3af4649-167c-47fd-9b15-a9f16082a9df"/>
    <xsd:import namespace="641b40e5-f6f8-47ee-836c-2a50c068a8e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af4649-167c-47fd-9b15-a9f16082a9d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b40e5-f6f8-47ee-836c-2a50c068a8e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3af4649-167c-47fd-9b15-a9f16082a9df" xsi:nil="true"/>
  </documentManagement>
</p:properties>
</file>

<file path=customXml/itemProps1.xml><?xml version="1.0" encoding="utf-8"?>
<ds:datastoreItem xmlns:ds="http://schemas.openxmlformats.org/officeDocument/2006/customXml" ds:itemID="{302646CC-DB50-4F8A-B3F3-A76863DBCD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af4649-167c-47fd-9b15-a9f16082a9df"/>
    <ds:schemaRef ds:uri="641b40e5-f6f8-47ee-836c-2a50c068a8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B5E899-B2E3-403F-B35E-D520BCF006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2AE59F-B540-4EB3-8986-40CE5966C35F}">
  <ds:schemaRefs>
    <ds:schemaRef ds:uri="641b40e5-f6f8-47ee-836c-2a50c068a8e8"/>
    <ds:schemaRef ds:uri="http://purl.org/dc/terms/"/>
    <ds:schemaRef ds:uri="e3af4649-167c-47fd-9b15-a9f16082a9df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1153</Words>
  <Application>Microsoft Office PowerPoint</Application>
  <PresentationFormat>Panorámica</PresentationFormat>
  <Paragraphs>210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Liberation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LakeDB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LakeDB Engineering Overview</dc:title>
  <dc:subject>LakeDB technical engineering overview</dc:subject>
  <dc:creator>OpenAI</dc:creator>
  <cp:lastModifiedBy>David Lago</cp:lastModifiedBy>
  <cp:revision>3</cp:revision>
  <dcterms:created xsi:type="dcterms:W3CDTF">2026-08-18T13:12:58Z</dcterms:created>
  <dcterms:modified xsi:type="dcterms:W3CDTF">2026-08-18T15:56:17Z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0x010100CF3AFC630CAB4144AD0DBB2A43B58AA8</vt:lpwstr>
  </property>
</Properties>
</file>